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EOAD2526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EOAD 2025/2026 :: Inference - Introduction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Why Inference Matters in Modelling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Statistical inference is not limited to testing hypotheses in isolation.</a:t>
            </a:r>
            <a:br/>
          </a:p>
          <a:p>
            <a:pPr lvl="0"/>
            <a:r>
              <a:rPr/>
              <a:t>It supports every step of model building and evaluation:</a:t>
            </a:r>
          </a:p>
          <a:p>
            <a:pPr lvl="1" indent="-342900" marL="685800">
              <a:buAutoNum type="arabicPeriod"/>
            </a:pPr>
            <a:r>
              <a:rPr b="1"/>
              <a:t>Exploratory association analysis</a:t>
            </a:r>
            <a:r>
              <a:rPr/>
              <a:t> — identifying meaningful relationships.</a:t>
            </a:r>
          </a:p>
          <a:p>
            <a:pPr lvl="1" indent="-342900" marL="685800">
              <a:buAutoNum type="arabicPeriod"/>
            </a:pPr>
            <a:r>
              <a:rPr b="1"/>
              <a:t>Feature selection</a:t>
            </a:r>
            <a:r>
              <a:rPr/>
              <a:t> — deciding which predictors improve the model.</a:t>
            </a:r>
          </a:p>
          <a:p>
            <a:pPr lvl="1" indent="-342900" marL="685800">
              <a:buAutoNum type="arabicPeriod"/>
            </a:pPr>
            <a:r>
              <a:rPr b="1"/>
              <a:t>Model validation</a:t>
            </a:r>
            <a:r>
              <a:rPr/>
              <a:t> — determining if observed performance differences are real.</a:t>
            </a:r>
            <a:br/>
          </a:p>
          <a:p>
            <a:pPr lvl="0"/>
            <a:r>
              <a:rPr/>
              <a:t>Inferential reasoning allows us to distinguish </a:t>
            </a:r>
            <a:r>
              <a:rPr b="1"/>
              <a:t>signal from noise</a:t>
            </a:r>
            <a:r>
              <a:rPr/>
              <a:t> in modeling results.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Exploratory Association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In the early stage of analysis, we ask: </a:t>
                </a:r>
                <a:r>
                  <a:rPr i="1"/>
                  <a:t>Are two variables related?</a:t>
                </a:r>
              </a:p>
              <a:p>
                <a:pPr lvl="0"/>
                <a:r>
                  <a:rPr b="1"/>
                  <a:t>Correlation analysis</a:t>
                </a:r>
                <a:r>
                  <a:rPr/>
                  <a:t> quantifies linear or monotonic association: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∑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e>
                          </m:d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But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from a sample is subject to uncertainty.</a:t>
                </a:r>
                <a:br/>
                <a:r>
                  <a:rPr/>
                  <a:t>The sampling distribution of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allows inference on whether the population correlation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 differs from zero.</a:t>
                </a:r>
              </a:p>
              <a:p>
                <a:pPr lvl="0"/>
                <a:r>
                  <a:rPr/>
                  <a:t>Hypothesis test: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ρ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ρ</m:t>
                      </m:r>
                      <m:r>
                        <m:rPr>
                          <m:sty m:val="p"/>
                        </m:rPr>
                        <m:t>≠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/>
                <a:r>
                  <a:rPr/>
                  <a:t>Confidence intervals for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 (via Fisher’s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-transform) convey strength and uncertainty of association.</a:t>
                </a:r>
              </a:p>
              <a:p>
                <a:pPr lvl="0" indent="0" marL="1270000">
                  <a:buNone/>
                </a:pPr>
                <a:r>
                  <a:rPr sz="2000"/>
                  <a:t>Insert Figure: </a:t>
                </a:r>
                <a:r>
                  <a:rPr sz="2000" i="1"/>
                  <a:t>Correlation scatterplot</a:t>
                </a:r>
                <a:r>
                  <a:rPr sz="2000"/>
                  <a:t> (</a:t>
                </a:r>
                <a:r>
                  <a:rPr sz="2000">
                    <a:latin typeface="Courier"/>
                  </a:rPr>
                  <a:t>figs/correlation_example.png</a:t>
                </a:r>
                <a:r>
                  <a:rPr sz="2000"/>
                  <a:t>)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Beyond Correlation: Association and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Inferential association ≠ causal relation.</a:t>
            </a:r>
            <a:br/>
            <a:r>
              <a:rPr/>
              <a:t>Correlation supports </a:t>
            </a:r>
            <a:r>
              <a:rPr b="1"/>
              <a:t>variable screening</a:t>
            </a:r>
            <a:r>
              <a:rPr/>
              <a:t>, not causal inference.</a:t>
            </a:r>
            <a:br/>
          </a:p>
          <a:p>
            <a:pPr lvl="0"/>
            <a:r>
              <a:rPr/>
              <a:t>Exploratory inference answers:</a:t>
            </a:r>
          </a:p>
          <a:p>
            <a:pPr lvl="1"/>
            <a:r>
              <a:rPr/>
              <a:t>Which relationships are likely not due to chance?</a:t>
            </a:r>
          </a:p>
          <a:p>
            <a:pPr lvl="1"/>
            <a:r>
              <a:rPr/>
              <a:t>Which are worth including in multivariate models?</a:t>
            </a:r>
          </a:p>
          <a:p>
            <a:pPr lvl="0"/>
            <a:r>
              <a:rPr/>
              <a:t>Subsequent modeling (e.g., regression) must confirm whether associations persist </a:t>
            </a:r>
            <a:r>
              <a:rPr i="1"/>
              <a:t>conditional on other variables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Variable Relevance and Model-Based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Feature inclusion can be guided by inferential reasoning:</a:t>
                </a:r>
              </a:p>
              <a:p>
                <a:pPr lvl="1"/>
                <a:r>
                  <a:rPr/>
                  <a:t>In regression: test if coefficient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using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tests.</a:t>
                </a:r>
              </a:p>
              <a:p>
                <a:pPr lvl="1"/>
                <a:r>
                  <a:rPr/>
                  <a:t>In tree-based or ML models: use resampling to estimate </a:t>
                </a:r>
                <a:r>
                  <a:rPr i="1"/>
                  <a:t>variable importance</a:t>
                </a:r>
                <a:r>
                  <a:rPr/>
                  <a:t> distributions.</a:t>
                </a:r>
              </a:p>
              <a:p>
                <a:pPr lvl="0"/>
                <a:r>
                  <a:rPr/>
                  <a:t>Uncertainty-aware variable selection:</a:t>
                </a:r>
              </a:p>
              <a:p>
                <a:pPr lvl="1"/>
                <a:r>
                  <a:rPr/>
                  <a:t>Include predictors only if their contribution is consistently significant across resamples.</a:t>
                </a:r>
              </a:p>
              <a:p>
                <a:pPr lvl="0"/>
                <a:r>
                  <a:rPr/>
                  <a:t>This helps avoid </a:t>
                </a:r>
                <a:r>
                  <a:rPr b="1"/>
                  <a:t>spurious predictors</a:t>
                </a:r>
                <a:r>
                  <a:rPr/>
                  <a:t> that only appear relevant due to sample noise.</a:t>
                </a:r>
              </a:p>
              <a:p>
                <a:pPr lvl="0" indent="0" marL="1270000">
                  <a:buNone/>
                </a:pPr>
                <a:r>
                  <a:rPr sz="2000"/>
                  <a:t>Insert Figure: </a:t>
                </a:r>
                <a:r>
                  <a:rPr sz="2000" i="1"/>
                  <a:t>Variable importance with confidence intervals</a:t>
                </a:r>
                <a:r>
                  <a:rPr sz="2000"/>
                  <a:t> (</a:t>
                </a:r>
                <a:r>
                  <a:rPr sz="2000">
                    <a:latin typeface="Courier"/>
                  </a:rPr>
                  <a:t>figs/var_importance_ci.png</a:t>
                </a:r>
                <a:r>
                  <a:rPr sz="2000"/>
                  <a:t>)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Comparing Competing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Suppose we compare two models: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.</a:t>
                </a:r>
                <a:br/>
                <a:r>
                  <a:rPr/>
                  <a:t>Both are trained on the same data and evaluated by a performance metric (e.g., RMSE, AUC,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/>
                  <a:t>Question: </a:t>
                </a:r>
                <a:r>
                  <a:rPr i="1"/>
                  <a:t>Is the observed difference in performance statistically significant, or just random?</a:t>
                </a:r>
              </a:p>
              <a:p>
                <a:pPr lvl="0"/>
                <a:r>
                  <a:rPr/>
                  <a:t>We need inference on </a:t>
                </a:r>
                <a:r>
                  <a:rPr b="1"/>
                  <a:t>cross-validation results</a:t>
                </a:r>
                <a:r>
                  <a:rPr/>
                  <a:t>, not single test scores.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Cross-Validation as an Inferential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-fold cross-validation yields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performance estimates per model:</a:t>
                </a:r>
                <a:br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1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,</m:t>
                    </m:r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1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2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2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We can test whether their mean performances differ: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Paired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-test on fold-wise differences: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d</m:t>
                              </m:r>
                            </m:e>
                          </m:acc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k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d</m:t>
                        </m:r>
                      </m:e>
                    </m:acc>
                  </m:oMath>
                </a14:m>
                <a:r>
                  <a:rPr/>
                  <a:t> is the mean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Sup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m:t>−</m:t>
                        </m:r>
                        <m:sSubSup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α</m:t>
                    </m:r>
                  </m:oMath>
                </a14:m>
                <a:r>
                  <a:rPr/>
                  <a:t>, we reject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: models differ more than expected by random fold variation.</a:t>
                </a:r>
              </a:p>
              <a:p>
                <a:pPr lvl="0" indent="0" marL="1270000">
                  <a:buNone/>
                </a:pPr>
                <a:r>
                  <a:rPr sz="2000"/>
                  <a:t>Insert Figure: </a:t>
                </a:r>
                <a:r>
                  <a:rPr sz="2000" i="1"/>
                  <a:t>Cross-validation distributions and paired differences</a:t>
                </a:r>
                <a:r>
                  <a:rPr sz="2000"/>
                  <a:t> (</a:t>
                </a:r>
                <a:r>
                  <a:rPr sz="2000">
                    <a:latin typeface="Courier"/>
                  </a:rPr>
                  <a:t>figs/cv_model_comparison.png</a:t>
                </a:r>
                <a:r>
                  <a:rPr sz="2000"/>
                  <a:t>)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Confidence Intervals on Model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Cross-validation estimates can be summarized with means and CIs: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m:t>±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k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Overlapping intervals ≠ identical performance — but large overlap suggests limited evidence of difference.</a:t>
                </a:r>
              </a:p>
              <a:p>
                <a:pPr lvl="0"/>
                <a:r>
                  <a:rPr/>
                  <a:t>Visualization:</a:t>
                </a:r>
              </a:p>
              <a:p>
                <a:pPr lvl="1"/>
                <a:r>
                  <a:rPr/>
                  <a:t>Bars or violin plots with mean ± CI.</a:t>
                </a:r>
              </a:p>
              <a:p>
                <a:pPr lvl="1"/>
                <a:r>
                  <a:rPr/>
                  <a:t>Difference distribution plots (e.g., bootstrap resampling).</a:t>
                </a:r>
              </a:p>
              <a:p>
                <a:pPr lvl="0"/>
                <a:r>
                  <a:rPr/>
                  <a:t>Inferential framing: “Given variability across folds, how confident are we that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outperforms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?”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Resampling-Based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When distributional assumptions are doubtful:</a:t>
                </a:r>
              </a:p>
              <a:p>
                <a:pPr lvl="1"/>
                <a:r>
                  <a:rPr/>
                  <a:t>Use </a:t>
                </a:r>
                <a:r>
                  <a:rPr b="1"/>
                  <a:t>bootstrap</a:t>
                </a:r>
                <a:r>
                  <a:rPr/>
                  <a:t> to estimate the sampling distribution of a performance metric.</a:t>
                </a:r>
              </a:p>
              <a:p>
                <a:pPr lvl="1"/>
                <a:r>
                  <a:rPr/>
                  <a:t>Compute percentile or BCa confidence intervals for mean differences.</a:t>
                </a:r>
              </a:p>
              <a:p>
                <a:pPr lvl="0"/>
                <a:r>
                  <a:rPr/>
                  <a:t>In practice:</a:t>
                </a:r>
              </a:p>
              <a:p>
                <a:pPr lvl="1"/>
                <a:r>
                  <a:rPr/>
                  <a:t>Repeat CV many times (repeated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-fold CV).</a:t>
                </a:r>
              </a:p>
              <a:p>
                <a:pPr lvl="1"/>
                <a:r>
                  <a:rPr/>
                  <a:t>Compare performance difference distributions across repetitions.</a:t>
                </a:r>
              </a:p>
              <a:p>
                <a:pPr lvl="0"/>
                <a:r>
                  <a:rPr/>
                  <a:t>These empirical intervals provide a </a:t>
                </a:r>
                <a:r>
                  <a:rPr b="1"/>
                  <a:t>robust inferential assessment</a:t>
                </a:r>
                <a:r>
                  <a:rPr/>
                  <a:t> of model superiority.</a:t>
                </a:r>
              </a:p>
            </p:txBody>
          </p:sp>
        </mc:Choice>
      </mc:AlternateContent>
    </p:spTree>
  </p:cSld>
</p:sld>
</file>

<file path=ppt/slides/slide1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Slide 9 — Integrating Inference Across the Workflow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451100" /><a:gridCol w="3314700" /><a:gridCol w="2451100" /></a:tblGrid><a:tr h="0"><a:tc><a:txBody><a:bodyPr /><a:lstStyle /><a:p><a:pPr lvl="0" indent="0" marL="0" algn="l"><a:buNone /></a:pPr><a:r><a:rPr /><a:t>Workflow Stage</a:t></a:r></a:p></a:txBody><a:tcPr /></a:tc><a:tc><a:txBody><a:bodyPr /><a:lstStyle /><a:p><a:pPr lvl="0" indent="0" marL="0" algn="l"><a:buNone /></a:pPr><a:r><a:rPr /><a:t>Inferential Objective</a:t></a:r></a:p></a:txBody><a:tcPr /></a:tc><a:tc><a:txBody><a:bodyPr /><a:lstStyle /><a:p><a:pPr lvl="0" indent="0" marL="0" algn="l"><a:buNone /></a:pPr><a:r><a:rPr /><a:t>Typical Method</a:t></a:r></a:p></a:txBody><a:tcPr /></a:tc></a:tr><a:tr h="0"><a:tc><a:txBody><a:bodyPr /><a:lstStyle /><a:p><a:pPr lvl="0" indent="0" marL="0" algn="l"><a:buNone /></a:pPr><a:r><a:rPr /><a:t>Exploratory</a:t></a:r></a:p></a:txBody></a:tc><a:tc><a:txBody><a:bodyPr /><a:lstStyle /><a:p><a:pPr lvl="0" indent="0" marL="0" algn="l"><a:buNone /></a:pPr><a:r><a:rPr /><a:t>Association between variables</a:t></a:r></a:p></a:txBody></a:tc><a:tc><a:txBody><a:bodyPr /><a:lstStyle /><a:p><a:pPr lvl="0" indent="0" marL="0" algn="l"><a:buNone /></a:pPr><a:r><a:rPr /><a:t>Correlation tests (Pearson, Spearman)</a:t></a:r></a:p></a:txBody></a:tc></a:tr><a:tr h="0"><a:tc><a:txBody><a:bodyPr /><a:lstStyle /><a:p><a:pPr lvl="0" indent="0" marL="0" algn="l"><a:buNone /></a:pPr><a:r><a:rPr /><a:t>Modelling</a:t></a:r></a:p></a:txBody></a:tc><a:tc><a:txBody><a:bodyPr /><a:lstStyle /><a:p><a:pPr lvl="0" indent="0" marL="0" algn="l"><a:buNone /></a:pPr><a:r><a:rPr /><a:t>Significance of predictors</a:t></a:r></a:p></a:txBody></a:tc><a:tc><a:txBody><a:bodyPr /><a:lstStyle /><a:p><a:pPr lvl="0" indent="0" marL="0" algn="l"><a:buNone /></a:pPr><a14:m><m:oMath xmlns:m="http://schemas.openxmlformats.org/officeDocument/2006/math"><m:r><m:t>t</m:t></m:r></m:oMath></a14:m><a:r><a:rPr /><a:t>-tests, F-tests, regularization paths</a:t></a:r></a:p></a:txBody></a:tc></a:tr><a:tr h="0"><a:tc><a:txBody><a:bodyPr /><a:lstStyle /><a:p><a:pPr lvl="0" indent="0" marL="0" algn="l"><a:buNone /></a:pPr><a:r><a:rPr /><a:t>Validation</a:t></a:r></a:p></a:txBody></a:tc><a:tc><a:txBody><a:bodyPr /><a:lstStyle /><a:p><a:pPr lvl="0" indent="0" marL="0" algn="l"><a:buNone /></a:pPr><a:r><a:rPr /><a:t>Differences in model performance</a:t></a:r></a:p></a:txBody></a:tc><a:tc><a:txBody><a:bodyPr /><a:lstStyle /><a:p><a:pPr lvl="0" indent="0" marL="0" algn="l"><a:buNone /></a:pPr><a:r><a:rPr /><a:t>Paired </a:t></a:r><a14:m><m:oMath xmlns:m="http://schemas.openxmlformats.org/officeDocument/2006/math"><m:r><m:t>t</m:t></m:r></m:oMath></a14:m><a:r><a:rPr /><a:t>-test, bootstrap intervals</a:t></a:r></a:p></a:txBody></a:tc></a:tr><a:tr h="0"><a:tc><a:txBody><a:bodyPr /><a:lstStyle /><a:p><a:pPr lvl="0" indent="0" marL="0" algn="l"><a:buNone /></a:pPr><a:r><a:rPr /><a:t>Decision Support</a:t></a:r></a:p></a:txBody></a:tc><a:tc><a:txBody><a:bodyPr /><a:lstStyle /><a:p><a:pPr lvl="0" indent="0" marL="0" algn="l"><a:buNone /></a:pPr><a:r><a:rPr /><a:t>Quantifying uncertainty</a:t></a:r></a:p></a:txBody></a:tc><a:tc><a:txBody><a:bodyPr /><a:lstStyle /><a:p><a:pPr lvl="0" indent="0" marL="0" algn="l"><a:buNone /></a:pPr><a:r><a:rPr /><a:t>Confidence intervals, predictive distributions</a:t></a:r></a:p></a:txBody></a:tc></a:tr></a:tbl></a:graphicData></a:graphic></p:graphicFrame></p:spTree></p:cSld>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Table for conceptual overview only; not rendered in slides.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Practical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Always attach </a:t>
            </a:r>
            <a:r>
              <a:rPr b="1"/>
              <a:t>uncertainty quantification</a:t>
            </a:r>
            <a:r>
              <a:rPr/>
              <a:t> to performance and parameter estimates.</a:t>
            </a:r>
          </a:p>
          <a:p>
            <a:pPr lvl="0"/>
            <a:r>
              <a:rPr/>
              <a:t>Avoid overinterpreting single-sample metrics.</a:t>
            </a:r>
          </a:p>
          <a:p>
            <a:pPr lvl="0"/>
            <a:r>
              <a:rPr/>
              <a:t>Repetition and resampling are essential for robust inference.</a:t>
            </a:r>
          </a:p>
          <a:p>
            <a:pPr lvl="0"/>
            <a:r>
              <a:rPr/>
              <a:t>Prefer interpretable inferential summaries:</a:t>
            </a:r>
          </a:p>
          <a:p>
            <a:pPr lvl="1"/>
            <a:r>
              <a:rPr/>
              <a:t>Effect sizes with CIs over binary significance.</a:t>
            </a:r>
          </a:p>
          <a:p>
            <a:pPr lvl="1"/>
            <a:r>
              <a:rPr/>
              <a:t>Visual comparison of uncertainty bands over raw numbers.</a:t>
            </a:r>
          </a:p>
          <a:p>
            <a:pPr lvl="0"/>
            <a:r>
              <a:rPr/>
              <a:t>Inference turns empirical patterns into </a:t>
            </a:r>
            <a:r>
              <a:rPr b="1"/>
              <a:t>evidence-based conclusions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Exploratory inference detects likely relationships.</a:t>
                </a:r>
                <a:br/>
              </a:p>
              <a:p>
                <a:pPr lvl="0"/>
                <a:r>
                  <a:rPr/>
                  <a:t>Model-based inference tests variable relevance.</a:t>
                </a:r>
                <a:br/>
              </a:p>
              <a:p>
                <a:pPr lvl="0"/>
                <a:r>
                  <a:rPr/>
                  <a:t>Cross-validation inference validates model generalization.</a:t>
                </a:r>
                <a:br/>
              </a:p>
              <a:p>
                <a:pPr lvl="0"/>
                <a:r>
                  <a:rPr/>
                  <a:t>Together, these components ensure: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Data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rPr>
                          <m:nor/>
                          <m:sty m:val="p"/>
                        </m:rPr>
                        <m:t>Model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rPr>
                          <m:nor/>
                          <m:sty m:val="p"/>
                        </m:rPr>
                        <m:t>Evidence-based Decision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EOAD2526</dc:title>
  <dc:creator/>
  <cp:keywords/>
  <dcterms:created xsi:type="dcterms:W3CDTF">2025-11-04T13:50:41Z</dcterms:created>
  <dcterms:modified xsi:type="dcterms:W3CDTF">2025-11-04T13:50:41Z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heme">
    <vt:lpwstr>simple</vt:lpwstr>
  </property>
  <property fmtid="{D5CDD505-2E9C-101B-9397-08002B2CF9AE}" pid="8" name="toc-title">
    <vt:lpwstr>Índice</vt:lpwstr>
  </property>
</Properties>
</file>